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</p:sldMasterIdLst>
  <p:notesMasterIdLst>
    <p:notesMasterId r:id="rId5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</p:sldIdLst>
  <p:sldSz cy="5143500" cx="9144000"/>
  <p:notesSz cx="6858000" cy="9144000"/>
  <p:embeddedFontLst>
    <p:embeddedFont>
      <p:font typeface="Source Sans 3 SemiBold"/>
      <p:regular r:id="rId65"/>
      <p:bold r:id="rId66"/>
      <p:italic r:id="rId67"/>
      <p:boldItalic r:id="rId68"/>
    </p:embeddedFont>
    <p:embeddedFont>
      <p:font typeface="Source Sans 3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C09F2E-EE27-454E-B1FF-34FEC6779EA1}">
  <a:tblStyle styleId="{D7C09F2E-EE27-454E-B1FF-34FEC6779EA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65" Type="http://schemas.openxmlformats.org/officeDocument/2006/relationships/font" Target="fonts/SourceSans3SemiBold-regular.fntdata"/><Relationship Id="rId66" Type="http://schemas.openxmlformats.org/officeDocument/2006/relationships/font" Target="fonts/SourceSans3SemiBold-bold.fntdata"/><Relationship Id="rId67" Type="http://schemas.openxmlformats.org/officeDocument/2006/relationships/font" Target="fonts/SourceSans3SemiBold-italic.fntdata"/><Relationship Id="rId68" Type="http://schemas.openxmlformats.org/officeDocument/2006/relationships/font" Target="fonts/SourceSans3SemiBold-boldItalic.fntdata"/><Relationship Id="rId69" Type="http://schemas.openxmlformats.org/officeDocument/2006/relationships/font" Target="fonts/SourceSans3-regular.fntdata"/><Relationship Id="rId70" Type="http://schemas.openxmlformats.org/officeDocument/2006/relationships/font" Target="fonts/SourceSans3-bold.fntdata"/><Relationship Id="rId71" Type="http://schemas.openxmlformats.org/officeDocument/2006/relationships/font" Target="fonts/SourceSans3-italic.fntdata"/><Relationship Id="rId72" Type="http://schemas.openxmlformats.org/officeDocument/2006/relationships/font" Target="fonts/SourceSans3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/Title Layout">
  <p:cSld name="CUSTOM_7">
    <p:bg>
      <p:bgPr>
        <a:solidFill>
          <a:srgbClr val="B1E0F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311700" y="1813500"/>
            <a:ext cx="85206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3800"/>
              <a:buNone/>
              <a:defRPr b="1" sz="3800">
                <a:solidFill>
                  <a:srgbClr val="19273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5">
  <p:cSld name="TITLE_19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737"/>
              </a:buClr>
              <a:buSzPts val="5200"/>
              <a:buNone/>
              <a:defRPr sz="5200">
                <a:solidFill>
                  <a:srgbClr val="16273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0" y="0"/>
            <a:ext cx="120600" cy="5148000"/>
          </a:xfrm>
          <a:prstGeom prst="rect">
            <a:avLst/>
          </a:prstGeom>
          <a:solidFill>
            <a:srgbClr val="B1E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023400" y="-2250"/>
            <a:ext cx="120600" cy="5148000"/>
          </a:xfrm>
          <a:prstGeom prst="rect">
            <a:avLst/>
          </a:prstGeom>
          <a:solidFill>
            <a:srgbClr val="B1E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5200"/>
              <a:buNone/>
              <a:defRPr sz="5200">
                <a:solidFill>
                  <a:srgbClr val="19273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8194"/>
              </a:buClr>
              <a:buSzPts val="2800"/>
              <a:buNone/>
              <a:defRPr sz="2800">
                <a:solidFill>
                  <a:srgbClr val="4D819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56616" y="155448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100"/>
              <a:buNone/>
              <a:defRPr sz="2100">
                <a:solidFill>
                  <a:srgbClr val="19273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100"/>
              <a:buFont typeface="Arial"/>
              <a:buNone/>
              <a:defRPr sz="2100">
                <a:solidFill>
                  <a:srgbClr val="19273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100"/>
              <a:buFont typeface="Arial"/>
              <a:buNone/>
              <a:defRPr sz="2100">
                <a:solidFill>
                  <a:srgbClr val="19273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100"/>
              <a:buFont typeface="Arial"/>
              <a:buNone/>
              <a:defRPr sz="2100">
                <a:solidFill>
                  <a:srgbClr val="19273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100"/>
              <a:buFont typeface="Arial"/>
              <a:buNone/>
              <a:defRPr sz="2100">
                <a:solidFill>
                  <a:srgbClr val="19273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100"/>
              <a:buFont typeface="Arial"/>
              <a:buNone/>
              <a:defRPr sz="2100">
                <a:solidFill>
                  <a:srgbClr val="19273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100"/>
              <a:buFont typeface="Arial"/>
              <a:buNone/>
              <a:defRPr sz="2100">
                <a:solidFill>
                  <a:srgbClr val="19273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100"/>
              <a:buFont typeface="Arial"/>
              <a:buNone/>
              <a:defRPr sz="2100">
                <a:solidFill>
                  <a:srgbClr val="19273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100"/>
              <a:buFont typeface="Arial"/>
              <a:buNone/>
              <a:defRPr sz="2100">
                <a:solidFill>
                  <a:srgbClr val="19273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 txBox="1"/>
          <p:nvPr>
            <p:ph idx="1" type="subTitle"/>
          </p:nvPr>
        </p:nvSpPr>
        <p:spPr>
          <a:xfrm>
            <a:off x="585216" y="1060704"/>
            <a:ext cx="7973700" cy="22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92738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15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column conten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722376" y="1060704"/>
            <a:ext cx="5942100" cy="26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546276" y="592150"/>
            <a:ext cx="62943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2" type="title"/>
          </p:nvPr>
        </p:nvSpPr>
        <p:spPr>
          <a:xfrm>
            <a:off x="356616" y="155448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_AND_TWO_COLUMNS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0" y="4550"/>
            <a:ext cx="120600" cy="5143500"/>
          </a:xfrm>
          <a:prstGeom prst="rect">
            <a:avLst/>
          </a:prstGeom>
          <a:solidFill>
            <a:srgbClr val="B1E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9"/>
          <p:cNvSpPr txBox="1"/>
          <p:nvPr>
            <p:ph type="title"/>
          </p:nvPr>
        </p:nvSpPr>
        <p:spPr>
          <a:xfrm>
            <a:off x="722376" y="667350"/>
            <a:ext cx="62943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722376" y="1178450"/>
            <a:ext cx="3492900" cy="28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2" type="body"/>
          </p:nvPr>
        </p:nvSpPr>
        <p:spPr>
          <a:xfrm>
            <a:off x="4660600" y="1178450"/>
            <a:ext cx="3492900" cy="28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3" type="title"/>
          </p:nvPr>
        </p:nvSpPr>
        <p:spPr>
          <a:xfrm>
            <a:off x="356616" y="155448"/>
            <a:ext cx="37461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400"/>
              <a:buNone/>
              <a:defRPr>
                <a:solidFill>
                  <a:srgbClr val="19273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400"/>
              <a:buNone/>
              <a:defRPr>
                <a:solidFill>
                  <a:srgbClr val="19273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400"/>
              <a:buNone/>
              <a:defRPr>
                <a:solidFill>
                  <a:srgbClr val="19273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400"/>
              <a:buNone/>
              <a:defRPr>
                <a:solidFill>
                  <a:srgbClr val="19273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400"/>
              <a:buNone/>
              <a:defRPr>
                <a:solidFill>
                  <a:srgbClr val="19273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400"/>
              <a:buNone/>
              <a:defRPr>
                <a:solidFill>
                  <a:srgbClr val="19273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400"/>
              <a:buNone/>
              <a:defRPr>
                <a:solidFill>
                  <a:srgbClr val="19273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400"/>
              <a:buNone/>
              <a:defRPr>
                <a:solidFill>
                  <a:srgbClr val="192738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body 4">
  <p:cSld name="TITLE_AND_BODY_4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356616" y="155448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100"/>
              <a:buNone/>
              <a:defRPr sz="2100">
                <a:solidFill>
                  <a:srgbClr val="19273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100"/>
              <a:buFont typeface="Arial"/>
              <a:buNone/>
              <a:defRPr sz="2100">
                <a:solidFill>
                  <a:srgbClr val="19273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100"/>
              <a:buFont typeface="Arial"/>
              <a:buNone/>
              <a:defRPr sz="2100">
                <a:solidFill>
                  <a:srgbClr val="19273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100"/>
              <a:buFont typeface="Arial"/>
              <a:buNone/>
              <a:defRPr sz="2100">
                <a:solidFill>
                  <a:srgbClr val="19273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100"/>
              <a:buFont typeface="Arial"/>
              <a:buNone/>
              <a:defRPr sz="2100">
                <a:solidFill>
                  <a:srgbClr val="19273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100"/>
              <a:buFont typeface="Arial"/>
              <a:buNone/>
              <a:defRPr sz="2100">
                <a:solidFill>
                  <a:srgbClr val="19273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100"/>
              <a:buFont typeface="Arial"/>
              <a:buNone/>
              <a:defRPr sz="2100">
                <a:solidFill>
                  <a:srgbClr val="19273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100"/>
              <a:buFont typeface="Arial"/>
              <a:buNone/>
              <a:defRPr sz="2100">
                <a:solidFill>
                  <a:srgbClr val="19273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100"/>
              <a:buFont typeface="Arial"/>
              <a:buNone/>
              <a:defRPr sz="2100">
                <a:solidFill>
                  <a:srgbClr val="19273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10"/>
          <p:cNvSpPr txBox="1"/>
          <p:nvPr>
            <p:ph idx="2" type="title"/>
          </p:nvPr>
        </p:nvSpPr>
        <p:spPr>
          <a:xfrm>
            <a:off x="356616" y="667350"/>
            <a:ext cx="62943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8194"/>
              </a:buClr>
              <a:buSzPts val="1800"/>
              <a:buNone/>
              <a:defRPr sz="1800">
                <a:solidFill>
                  <a:srgbClr val="4D819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56616" y="1060704"/>
            <a:ext cx="5942100" cy="26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0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type="title"/>
          </p:nvPr>
        </p:nvSpPr>
        <p:spPr>
          <a:xfrm>
            <a:off x="311700" y="2474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1"/>
          <p:cNvSpPr/>
          <p:nvPr/>
        </p:nvSpPr>
        <p:spPr>
          <a:xfrm>
            <a:off x="0" y="0"/>
            <a:ext cx="9144000" cy="2205900"/>
          </a:xfrm>
          <a:prstGeom prst="rect">
            <a:avLst/>
          </a:prstGeom>
          <a:solidFill>
            <a:srgbClr val="B1E0F1"/>
          </a:solidFill>
          <a:ln cap="flat" cmpd="sng" w="9525">
            <a:solidFill>
              <a:srgbClr val="B1E0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Wilcore" id="56" name="Google Shape;56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74250" y="248688"/>
            <a:ext cx="4537900" cy="170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Table of Contents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/>
          <p:nvPr/>
        </p:nvSpPr>
        <p:spPr>
          <a:xfrm>
            <a:off x="881749" y="713232"/>
            <a:ext cx="38700" cy="3018000"/>
          </a:xfrm>
          <a:prstGeom prst="rect">
            <a:avLst/>
          </a:prstGeom>
          <a:solidFill>
            <a:srgbClr val="B1E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2"/>
          <p:cNvSpPr/>
          <p:nvPr/>
        </p:nvSpPr>
        <p:spPr>
          <a:xfrm>
            <a:off x="-9144" y="0"/>
            <a:ext cx="120600" cy="5148000"/>
          </a:xfrm>
          <a:prstGeom prst="rect">
            <a:avLst/>
          </a:prstGeom>
          <a:solidFill>
            <a:srgbClr val="B1E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2"/>
          <p:cNvSpPr txBox="1"/>
          <p:nvPr>
            <p:ph type="title"/>
          </p:nvPr>
        </p:nvSpPr>
        <p:spPr>
          <a:xfrm>
            <a:off x="1106424" y="667512"/>
            <a:ext cx="73410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2"/>
          <p:cNvSpPr txBox="1"/>
          <p:nvPr>
            <p:ph idx="1" type="body"/>
          </p:nvPr>
        </p:nvSpPr>
        <p:spPr>
          <a:xfrm>
            <a:off x="1110753" y="1253912"/>
            <a:ext cx="57483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v2" type="twoColTx">
  <p:cSld name="TITLE_AND_TWO_COLUMN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>
            <a:off x="0" y="4550"/>
            <a:ext cx="120600" cy="5143500"/>
          </a:xfrm>
          <a:prstGeom prst="rect">
            <a:avLst/>
          </a:prstGeom>
          <a:solidFill>
            <a:srgbClr val="B1E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3"/>
          <p:cNvSpPr txBox="1"/>
          <p:nvPr>
            <p:ph type="title"/>
          </p:nvPr>
        </p:nvSpPr>
        <p:spPr>
          <a:xfrm>
            <a:off x="356616" y="15544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100"/>
              <a:buNone/>
              <a:defRPr sz="2100">
                <a:solidFill>
                  <a:srgbClr val="19273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722376" y="1060704"/>
            <a:ext cx="5942100" cy="26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2" type="subTitle"/>
          </p:nvPr>
        </p:nvSpPr>
        <p:spPr>
          <a:xfrm>
            <a:off x="356616" y="621792"/>
            <a:ext cx="69876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D8194"/>
              </a:buClr>
              <a:buSzPts val="1800"/>
              <a:buNone/>
              <a:defRPr>
                <a:solidFill>
                  <a:srgbClr val="4D8194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56616" y="15544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100"/>
              <a:buNone/>
              <a:defRPr sz="2100">
                <a:solidFill>
                  <a:srgbClr val="19273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594360" y="804672"/>
            <a:ext cx="5942100" cy="26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v3">
  <p:cSld name="CUSTOM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0" y="0"/>
            <a:ext cx="2254200" cy="5143500"/>
          </a:xfrm>
          <a:prstGeom prst="rect">
            <a:avLst/>
          </a:prstGeom>
          <a:solidFill>
            <a:srgbClr val="B1E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 txBox="1"/>
          <p:nvPr>
            <p:ph type="title"/>
          </p:nvPr>
        </p:nvSpPr>
        <p:spPr>
          <a:xfrm>
            <a:off x="2843784" y="682525"/>
            <a:ext cx="49899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3000"/>
              <a:buNone/>
              <a:defRPr sz="2000">
                <a:solidFill>
                  <a:srgbClr val="19273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2853075" y="1267050"/>
            <a:ext cx="5644200" cy="29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v4">
  <p:cSld name="CUSTOM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0" y="4550"/>
            <a:ext cx="3549600" cy="5143500"/>
          </a:xfrm>
          <a:prstGeom prst="rect">
            <a:avLst/>
          </a:prstGeom>
          <a:solidFill>
            <a:srgbClr val="B1E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4140625" y="667350"/>
            <a:ext cx="4626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800"/>
              <a:buNone/>
              <a:defRPr>
                <a:solidFill>
                  <a:srgbClr val="19273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4155550" y="1178450"/>
            <a:ext cx="4492200" cy="3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v5">
  <p:cSld name="CUSTOM_8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/>
        </p:nvSpPr>
        <p:spPr>
          <a:xfrm>
            <a:off x="0" y="4550"/>
            <a:ext cx="4464000" cy="5143500"/>
          </a:xfrm>
          <a:prstGeom prst="rect">
            <a:avLst/>
          </a:prstGeom>
          <a:solidFill>
            <a:srgbClr val="B1E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5056625" y="667350"/>
            <a:ext cx="34965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5059325" y="1683500"/>
            <a:ext cx="3756900" cy="26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, Two Image Placeholders">
  <p:cSld name="CUSTOM_2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/>
          <p:nvPr/>
        </p:nvSpPr>
        <p:spPr>
          <a:xfrm>
            <a:off x="0" y="4550"/>
            <a:ext cx="3549600" cy="5143500"/>
          </a:xfrm>
          <a:prstGeom prst="rect">
            <a:avLst/>
          </a:prstGeom>
          <a:solidFill>
            <a:srgbClr val="B1E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120750" y="127175"/>
            <a:ext cx="3308100" cy="23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120750" y="2647600"/>
            <a:ext cx="3308100" cy="23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8"/>
          <p:cNvSpPr txBox="1"/>
          <p:nvPr>
            <p:ph type="title"/>
          </p:nvPr>
        </p:nvSpPr>
        <p:spPr>
          <a:xfrm>
            <a:off x="4142232" y="682525"/>
            <a:ext cx="47019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800"/>
              <a:buNone/>
              <a:defRPr>
                <a:solidFill>
                  <a:srgbClr val="19273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4164425" y="1187300"/>
            <a:ext cx="4701900" cy="31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, and One Large Image Placeholder">
  <p:cSld name="CUSTOM_5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/>
          <p:nvPr/>
        </p:nvSpPr>
        <p:spPr>
          <a:xfrm>
            <a:off x="0" y="4550"/>
            <a:ext cx="4464000" cy="5143500"/>
          </a:xfrm>
          <a:prstGeom prst="rect">
            <a:avLst/>
          </a:prstGeom>
          <a:solidFill>
            <a:srgbClr val="B1E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120749" y="127175"/>
            <a:ext cx="4225800" cy="490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9"/>
          <p:cNvSpPr txBox="1"/>
          <p:nvPr>
            <p:ph type="title"/>
          </p:nvPr>
        </p:nvSpPr>
        <p:spPr>
          <a:xfrm>
            <a:off x="4876575" y="682525"/>
            <a:ext cx="35412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800"/>
              <a:buNone/>
              <a:defRPr>
                <a:solidFill>
                  <a:srgbClr val="19273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4899825" y="1639175"/>
            <a:ext cx="3925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, One Image Placeholder with Callout v1">
  <p:cSld name="CUSTOM_9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/>
          <p:nvPr/>
        </p:nvSpPr>
        <p:spPr>
          <a:xfrm>
            <a:off x="0" y="4550"/>
            <a:ext cx="3549600" cy="5143500"/>
          </a:xfrm>
          <a:prstGeom prst="rect">
            <a:avLst/>
          </a:prstGeom>
          <a:solidFill>
            <a:srgbClr val="B1E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0"/>
          <p:cNvSpPr/>
          <p:nvPr/>
        </p:nvSpPr>
        <p:spPr>
          <a:xfrm>
            <a:off x="120750" y="127175"/>
            <a:ext cx="3308100" cy="23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0"/>
          <p:cNvSpPr txBox="1"/>
          <p:nvPr>
            <p:ph type="title"/>
          </p:nvPr>
        </p:nvSpPr>
        <p:spPr>
          <a:xfrm>
            <a:off x="4066032" y="682525"/>
            <a:ext cx="48027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800"/>
              <a:buNone/>
              <a:defRPr>
                <a:solidFill>
                  <a:srgbClr val="19273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4075825" y="1196175"/>
            <a:ext cx="4642800" cy="3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120800" y="2649275"/>
            <a:ext cx="3308100" cy="22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>
                <a:solidFill>
                  <a:srgbClr val="192738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200"/>
              <a:buChar char="○"/>
              <a:defRPr b="1" sz="1200">
                <a:solidFill>
                  <a:srgbClr val="192738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200"/>
              <a:buChar char="■"/>
              <a:defRPr b="1" sz="1200">
                <a:solidFill>
                  <a:srgbClr val="192738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200"/>
              <a:buChar char="●"/>
              <a:defRPr b="1" sz="1200">
                <a:solidFill>
                  <a:srgbClr val="192738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200"/>
              <a:buChar char="○"/>
              <a:defRPr b="1" sz="1200">
                <a:solidFill>
                  <a:srgbClr val="192738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200"/>
              <a:buChar char="■"/>
              <a:defRPr b="1" sz="1200">
                <a:solidFill>
                  <a:srgbClr val="192738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200"/>
              <a:buChar char="●"/>
              <a:defRPr b="1" sz="1200">
                <a:solidFill>
                  <a:srgbClr val="192738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200"/>
              <a:buChar char="○"/>
              <a:defRPr b="1" sz="1200">
                <a:solidFill>
                  <a:srgbClr val="192738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200"/>
              <a:buChar char="■"/>
              <a:defRPr b="1" sz="1200">
                <a:solidFill>
                  <a:srgbClr val="192738"/>
                </a:solidFill>
              </a:defRPr>
            </a:lvl9pPr>
          </a:lstStyle>
          <a:p/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, One Image Placeholder with Callout v2">
  <p:cSld name="CUSTOM_6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/>
          <p:nvPr/>
        </p:nvSpPr>
        <p:spPr>
          <a:xfrm>
            <a:off x="0" y="4550"/>
            <a:ext cx="4464000" cy="5143500"/>
          </a:xfrm>
          <a:prstGeom prst="rect">
            <a:avLst/>
          </a:prstGeom>
          <a:solidFill>
            <a:srgbClr val="B1E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1"/>
          <p:cNvSpPr/>
          <p:nvPr/>
        </p:nvSpPr>
        <p:spPr>
          <a:xfrm>
            <a:off x="264450" y="244150"/>
            <a:ext cx="3937200" cy="21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1"/>
          <p:cNvSpPr txBox="1"/>
          <p:nvPr>
            <p:ph type="title"/>
          </p:nvPr>
        </p:nvSpPr>
        <p:spPr>
          <a:xfrm>
            <a:off x="4990000" y="469100"/>
            <a:ext cx="3496500" cy="10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800"/>
              <a:buNone/>
              <a:defRPr>
                <a:solidFill>
                  <a:srgbClr val="19273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265825" y="2640425"/>
            <a:ext cx="39372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 sz="1400">
                <a:solidFill>
                  <a:srgbClr val="192738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400"/>
              <a:buChar char="○"/>
              <a:defRPr b="1">
                <a:solidFill>
                  <a:srgbClr val="192738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400"/>
              <a:buChar char="■"/>
              <a:defRPr b="1">
                <a:solidFill>
                  <a:srgbClr val="192738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400"/>
              <a:buChar char="●"/>
              <a:defRPr b="1">
                <a:solidFill>
                  <a:srgbClr val="192738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400"/>
              <a:buChar char="○"/>
              <a:defRPr b="1">
                <a:solidFill>
                  <a:srgbClr val="192738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400"/>
              <a:buChar char="■"/>
              <a:defRPr b="1">
                <a:solidFill>
                  <a:srgbClr val="192738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400"/>
              <a:buChar char="●"/>
              <a:defRPr b="1">
                <a:solidFill>
                  <a:srgbClr val="192738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400"/>
              <a:buChar char="○"/>
              <a:defRPr b="1">
                <a:solidFill>
                  <a:srgbClr val="192738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400"/>
              <a:buChar char="■"/>
              <a:defRPr b="1">
                <a:solidFill>
                  <a:srgbClr val="192738"/>
                </a:solidFill>
              </a:defRPr>
            </a:lvl9pPr>
          </a:lstStyle>
          <a:p/>
        </p:txBody>
      </p:sp>
      <p:sp>
        <p:nvSpPr>
          <p:cNvPr id="113" name="Google Shape;113;p21"/>
          <p:cNvSpPr txBox="1"/>
          <p:nvPr>
            <p:ph idx="2" type="body"/>
          </p:nvPr>
        </p:nvSpPr>
        <p:spPr>
          <a:xfrm>
            <a:off x="4997300" y="1488550"/>
            <a:ext cx="3641700" cy="28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column content 1">
  <p:cSld name="ONE_COLUMN_TEXT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2"/>
          <p:cNvSpPr txBox="1"/>
          <p:nvPr>
            <p:ph type="title"/>
          </p:nvPr>
        </p:nvSpPr>
        <p:spPr>
          <a:xfrm>
            <a:off x="369000" y="365700"/>
            <a:ext cx="3836700" cy="9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100"/>
              <a:buNone/>
              <a:defRPr>
                <a:solidFill>
                  <a:srgbClr val="19273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69000" y="1754875"/>
            <a:ext cx="3834300" cy="30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9" name="Google Shape;119;p22"/>
          <p:cNvSpPr txBox="1"/>
          <p:nvPr>
            <p:ph idx="2" type="subTitle"/>
          </p:nvPr>
        </p:nvSpPr>
        <p:spPr>
          <a:xfrm>
            <a:off x="371469" y="1251075"/>
            <a:ext cx="38343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D8194"/>
              </a:buClr>
              <a:buSzPts val="1600"/>
              <a:buFont typeface="Source Sans 3 SemiBold"/>
              <a:buNone/>
              <a:defRPr sz="1600">
                <a:solidFill>
                  <a:srgbClr val="4D8194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AND_TWO_COLUMNS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/>
        </p:nvSpPr>
        <p:spPr>
          <a:xfrm>
            <a:off x="0" y="0"/>
            <a:ext cx="120600" cy="5148000"/>
          </a:xfrm>
          <a:prstGeom prst="rect">
            <a:avLst/>
          </a:prstGeom>
          <a:solidFill>
            <a:srgbClr val="B1E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6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5" name="Google Shape;125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17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5200"/>
              <a:buNone/>
              <a:defRPr sz="5200">
                <a:solidFill>
                  <a:srgbClr val="19273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9" name="Google Shape;129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8194"/>
              </a:buClr>
              <a:buSzPts val="2800"/>
              <a:buNone/>
              <a:defRPr sz="2800">
                <a:solidFill>
                  <a:srgbClr val="4D819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4">
  <p:cSld name="TITLE_18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737"/>
              </a:buClr>
              <a:buSzPts val="5200"/>
              <a:buNone/>
              <a:defRPr sz="5200">
                <a:solidFill>
                  <a:srgbClr val="16273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3" name="Google Shape;133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6"/>
          <p:cNvSpPr/>
          <p:nvPr/>
        </p:nvSpPr>
        <p:spPr>
          <a:xfrm>
            <a:off x="0" y="0"/>
            <a:ext cx="120600" cy="5148000"/>
          </a:xfrm>
          <a:prstGeom prst="rect">
            <a:avLst/>
          </a:prstGeom>
          <a:solidFill>
            <a:srgbClr val="B1E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6"/>
          <p:cNvSpPr/>
          <p:nvPr/>
        </p:nvSpPr>
        <p:spPr>
          <a:xfrm>
            <a:off x="9023400" y="-2250"/>
            <a:ext cx="120600" cy="5148000"/>
          </a:xfrm>
          <a:prstGeom prst="rect">
            <a:avLst/>
          </a:prstGeom>
          <a:solidFill>
            <a:srgbClr val="B1E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56616" y="579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8194"/>
              </a:buClr>
              <a:buSzPts val="1800"/>
              <a:buFont typeface="Source Sans 3"/>
              <a:buNone/>
              <a:defRPr b="0" i="0" sz="1800" u="none" cap="none" strike="noStrike">
                <a:solidFill>
                  <a:srgbClr val="4D8194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6616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1800"/>
              <a:buFont typeface="Source Sans 3"/>
              <a:buChar char="●"/>
              <a:defRPr b="0" i="0" sz="18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D8194"/>
              </a:buClr>
              <a:buSzPts val="1400"/>
              <a:buFont typeface="Source Sans 3"/>
              <a:buChar char="○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1E0F1"/>
              </a:buClr>
              <a:buSzPts val="1400"/>
              <a:buFont typeface="Source Sans 3"/>
              <a:buChar char="■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●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○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■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●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○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■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356616" y="155448"/>
            <a:ext cx="37461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738"/>
              </a:buClr>
              <a:buSzPts val="2100"/>
              <a:buFont typeface="Source Sans 3"/>
              <a:buNone/>
              <a:defRPr b="0" i="0" sz="2100" u="none" cap="none" strike="noStrike">
                <a:solidFill>
                  <a:srgbClr val="192738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ource Sans 3"/>
              <a:buNone/>
              <a:defRPr b="0" i="0" sz="1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ource Sans 3"/>
              <a:buNone/>
              <a:defRPr b="0" i="0" sz="1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ource Sans 3"/>
              <a:buNone/>
              <a:defRPr b="0" i="0" sz="1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ource Sans 3"/>
              <a:buNone/>
              <a:defRPr b="0" i="0" sz="1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ource Sans 3"/>
              <a:buNone/>
              <a:defRPr b="0" i="0" sz="1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ource Sans 3"/>
              <a:buNone/>
              <a:defRPr b="0" i="0" sz="1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ource Sans 3"/>
              <a:buNone/>
              <a:defRPr b="0" i="0" sz="1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ource Sans 3"/>
              <a:buNone/>
              <a:defRPr b="0" i="0" sz="1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/>
        </p:txBody>
      </p:sp>
      <p:sp>
        <p:nvSpPr>
          <p:cNvPr id="10" name="Google Shape;10;p1"/>
          <p:cNvSpPr/>
          <p:nvPr/>
        </p:nvSpPr>
        <p:spPr>
          <a:xfrm>
            <a:off x="0" y="0"/>
            <a:ext cx="137100" cy="5143500"/>
          </a:xfrm>
          <a:prstGeom prst="rect">
            <a:avLst/>
          </a:prstGeom>
          <a:solidFill>
            <a:srgbClr val="B1E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1" title="Screenshot 2026-02-09 at 3.10.28 PM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22975" y="4634650"/>
            <a:ext cx="1119173" cy="41815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3456432"/>
            <a:ext cx="73152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192738"/>
                </a:solidFill>
                <a:latin typeface="Arial"/>
              </a:rPr>
              <a:t>Understand benefits. Prepare paperwork. Connect with the VA or a VSO.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07992"/>
            <a:ext cx="7040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646464"/>
                </a:solidFill>
                <a:latin typeface="Arial"/>
              </a:rPr>
              <a:t>Prototype only. VetAssist prepares veterans for VA/VSO conversations; it does not make eligibility determinations.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92738"/>
                </a:solidFill>
                <a:latin typeface="Arial"/>
              </a:rPr>
              <a:t>VetAssist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7315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4D8194"/>
                </a:solidFill>
                <a:latin typeface="Arial"/>
              </a:rPr>
              <a:t>VA Benefits &amp; Forms AI Assistant</a:t>
            </a:r>
            <a:br/>
            <a:r>
              <a:rPr sz="1700" b="0">
                <a:solidFill>
                  <a:srgbClr val="4D8194"/>
                </a:solidFill>
                <a:latin typeface="Arial"/>
              </a:rPr>
              <a:t>Wilcore Innovation Challenge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92738"/>
                </a:solidFill>
                <a:latin typeface="Arial"/>
              </a:rPr>
              <a:t>Agenda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40080" y="1298448"/>
            <a:ext cx="1325880" cy="2057400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2400" b="1">
                <a:solidFill>
                  <a:srgbClr val="4D8194"/>
                </a:solidFill>
                <a:latin typeface="Arial"/>
              </a:rPr>
              <a:t>1</a:t>
            </a:r>
          </a:p>
          <a:p>
            <a:pPr>
              <a:spcBef>
                <a:spcPts val="400"/>
              </a:spcBef>
            </a:pPr>
            <a:r>
              <a:rPr sz="819">
                <a:solidFill>
                  <a:srgbClr val="192738"/>
                </a:solidFill>
                <a:latin typeface="Arial"/>
              </a:rPr>
              <a:t>Problem</a:t>
            </a:r>
            <a:br/>
            <a:br/>
            <a:r>
              <a:rPr sz="819">
                <a:solidFill>
                  <a:srgbClr val="192738"/>
                </a:solidFill>
                <a:latin typeface="Arial"/>
              </a:rPr>
              <a:t>Why veterans still struggle before the VA adjudication clock starts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1136" y="1298448"/>
            <a:ext cx="13258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2400" b="1">
                <a:solidFill>
                  <a:srgbClr val="4D8194"/>
                </a:solidFill>
                <a:latin typeface="Arial"/>
              </a:rPr>
              <a:t>2</a:t>
            </a:r>
          </a:p>
          <a:p>
            <a:pPr>
              <a:spcBef>
                <a:spcPts val="400"/>
              </a:spcBef>
            </a:pPr>
            <a:r>
              <a:rPr sz="819">
                <a:solidFill>
                  <a:srgbClr val="192738"/>
                </a:solidFill>
                <a:latin typeface="Arial"/>
              </a:rPr>
              <a:t>Solution</a:t>
            </a:r>
            <a:br/>
            <a:br/>
            <a:r>
              <a:rPr sz="819">
                <a:solidFill>
                  <a:srgbClr val="192738"/>
                </a:solidFill>
                <a:latin typeface="Arial"/>
              </a:rPr>
              <a:t>VetAssist: understand, prepare, connect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22191" y="1298448"/>
            <a:ext cx="1325880" cy="2057400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2400" b="1">
                <a:solidFill>
                  <a:srgbClr val="4D8194"/>
                </a:solidFill>
                <a:latin typeface="Arial"/>
              </a:rPr>
              <a:t>3</a:t>
            </a:r>
          </a:p>
          <a:p>
            <a:pPr>
              <a:spcBef>
                <a:spcPts val="400"/>
              </a:spcBef>
            </a:pPr>
            <a:r>
              <a:rPr sz="819">
                <a:solidFill>
                  <a:srgbClr val="192738"/>
                </a:solidFill>
                <a:latin typeface="Arial"/>
              </a:rPr>
              <a:t>MVP</a:t>
            </a:r>
            <a:br/>
            <a:br/>
            <a:r>
              <a:rPr sz="819">
                <a:solidFill>
                  <a:srgbClr val="192738"/>
                </a:solidFill>
                <a:latin typeface="Arial"/>
              </a:rPr>
              <a:t>What is already working in the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13248" y="1298448"/>
            <a:ext cx="13258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2400" b="1">
                <a:solidFill>
                  <a:srgbClr val="4D8194"/>
                </a:solidFill>
                <a:latin typeface="Arial"/>
              </a:rPr>
              <a:t>4</a:t>
            </a:r>
          </a:p>
          <a:p>
            <a:pPr>
              <a:spcBef>
                <a:spcPts val="400"/>
              </a:spcBef>
            </a:pPr>
            <a:r>
              <a:rPr sz="819">
                <a:solidFill>
                  <a:srgbClr val="192738"/>
                </a:solidFill>
                <a:latin typeface="Arial"/>
              </a:rPr>
              <a:t>Impact</a:t>
            </a:r>
            <a:br/>
            <a:br/>
            <a:r>
              <a:rPr sz="819">
                <a:solidFill>
                  <a:srgbClr val="192738"/>
                </a:solidFill>
                <a:latin typeface="Arial"/>
              </a:rPr>
              <a:t>Expected value, originality, and federal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4304" y="1298448"/>
            <a:ext cx="1325880" cy="2057400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2400" b="1">
                <a:solidFill>
                  <a:srgbClr val="4D8194"/>
                </a:solidFill>
                <a:latin typeface="Arial"/>
              </a:rPr>
              <a:t>5</a:t>
            </a:r>
          </a:p>
          <a:p>
            <a:pPr>
              <a:spcBef>
                <a:spcPts val="400"/>
              </a:spcBef>
            </a:pPr>
            <a:r>
              <a:rPr sz="819">
                <a:solidFill>
                  <a:srgbClr val="192738"/>
                </a:solidFill>
                <a:latin typeface="Arial"/>
              </a:rPr>
              <a:t>Roadmap</a:t>
            </a:r>
            <a:br/>
            <a:br/>
            <a:r>
              <a:rPr sz="819">
                <a:solidFill>
                  <a:srgbClr val="192738"/>
                </a:solidFill>
                <a:latin typeface="Arial"/>
              </a:rPr>
              <a:t>Implementation path, risks, and Q&amp;A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507992"/>
            <a:ext cx="7040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646464"/>
                </a:solidFill>
                <a:latin typeface="Arial"/>
              </a:rPr>
              <a:t>Demo walkthrough and video-link coverage intentionally omitted from this draft.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92738"/>
                </a:solidFill>
                <a:latin typeface="Arial"/>
              </a:rPr>
              <a:t>Team &amp; Roles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828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300" b="1">
                <a:solidFill>
                  <a:srgbClr val="B45309"/>
                </a:solidFill>
                <a:latin typeface="Arial"/>
              </a:rPr>
              <a:t>Team roster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192738"/>
                </a:solidFill>
                <a:latin typeface="Arial"/>
              </a:rPr>
              <a:t>TBD: add confirmed names and departments before submission.</a:t>
            </a:r>
            <a:br/>
            <a:br/>
            <a:r>
              <a:rPr sz="930">
                <a:solidFill>
                  <a:srgbClr val="192738"/>
                </a:solidFill>
                <a:latin typeface="Arial"/>
              </a:rPr>
              <a:t>Also confirm each person is a Wilcore employee, active through May 1, and only on this team.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960120"/>
            <a:ext cx="2331720" cy="960120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150" b="1">
                <a:solidFill>
                  <a:srgbClr val="192738"/>
                </a:solidFill>
                <a:latin typeface="Arial"/>
              </a:rPr>
              <a:t>Product / Story</a:t>
            </a:r>
          </a:p>
          <a:p>
            <a:pPr>
              <a:spcBef>
                <a:spcPts val="400"/>
              </a:spcBef>
            </a:pPr>
            <a:r>
              <a:rPr sz="819">
                <a:solidFill>
                  <a:srgbClr val="192738"/>
                </a:solidFill>
                <a:latin typeface="Arial"/>
              </a:rPr>
              <a:t>Problem framing, veteran journey, impact narrative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960120"/>
            <a:ext cx="2331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150" b="1">
                <a:solidFill>
                  <a:srgbClr val="192738"/>
                </a:solidFill>
                <a:latin typeface="Arial"/>
              </a:rPr>
              <a:t>Backend / AI</a:t>
            </a:r>
          </a:p>
          <a:p>
            <a:pPr>
              <a:spcBef>
                <a:spcPts val="400"/>
              </a:spcBef>
            </a:pPr>
            <a:r>
              <a:rPr sz="819">
                <a:solidFill>
                  <a:srgbClr val="192738"/>
                </a:solidFill>
                <a:latin typeface="Arial"/>
              </a:rPr>
              <a:t>FastAPI routes, benefit discovery, rules fallback, Claude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194560"/>
            <a:ext cx="2331720" cy="960120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150" b="1">
                <a:solidFill>
                  <a:srgbClr val="192738"/>
                </a:solidFill>
                <a:latin typeface="Arial"/>
              </a:rPr>
              <a:t>Forms / Data</a:t>
            </a:r>
          </a:p>
          <a:p>
            <a:pPr>
              <a:spcBef>
                <a:spcPts val="400"/>
              </a:spcBef>
            </a:pPr>
            <a:r>
              <a:rPr sz="819">
                <a:solidFill>
                  <a:srgbClr val="192738"/>
                </a:solidFill>
                <a:latin typeface="Arial"/>
              </a:rPr>
              <a:t>VA form catalog, field prefill, source-document mapping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2194560"/>
            <a:ext cx="2331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150" b="1">
                <a:solidFill>
                  <a:srgbClr val="192738"/>
                </a:solidFill>
                <a:latin typeface="Arial"/>
              </a:rPr>
              <a:t>UX / Accessibility</a:t>
            </a:r>
          </a:p>
          <a:p>
            <a:pPr>
              <a:spcBef>
                <a:spcPts val="400"/>
              </a:spcBef>
            </a:pPr>
            <a:r>
              <a:rPr sz="819">
                <a:solidFill>
                  <a:srgbClr val="192738"/>
                </a:solidFill>
                <a:latin typeface="Arial"/>
              </a:rPr>
              <a:t>Task flow polish, prototype notice, Section 508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611880"/>
            <a:ext cx="51663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0">
                <a:solidFill>
                  <a:srgbClr val="646464"/>
                </a:solidFill>
                <a:latin typeface="Arial"/>
              </a:rPr>
              <a:t>Recommendation: keep contribution notes in this deck once the roster is final so judges can see collaboration directly.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07992"/>
            <a:ext cx="7040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646464"/>
                </a:solidFill>
                <a:latin typeface="Arial"/>
              </a:rPr>
              <a:t>Source: repository docs and challenge checklist. Actual team metadata was not present in the project 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92738"/>
                </a:solidFill>
                <a:latin typeface="Arial"/>
              </a:rPr>
              <a:t>Problem / Opportunity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4114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800" b="1">
                <a:solidFill>
                  <a:srgbClr val="192738"/>
                </a:solidFill>
                <a:latin typeface="Arial"/>
              </a:rPr>
              <a:t>Veterans are slowed down before the claim even starts.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3977639" cy="17830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200"/>
              </a:spcAft>
              <a:defRPr sz="1030">
                <a:solidFill>
                  <a:srgbClr val="192738"/>
                </a:solidFill>
                <a:latin typeface="Arial"/>
              </a:defRPr>
            </a:pPr>
            <a:r>
              <a:t>• No single entry point explains which benefits are worth exploring for a specific veteran.</a:t>
            </a:r>
          </a:p>
          <a:p>
            <a:pPr algn="l">
              <a:spcAft>
                <a:spcPts val="200"/>
              </a:spcAft>
              <a:defRPr sz="1030">
                <a:solidFill>
                  <a:srgbClr val="192738"/>
                </a:solidFill>
                <a:latin typeface="Arial"/>
              </a:defRPr>
            </a:pPr>
            <a:r>
              <a:t>• Forms require repeated name, SSN, service dates, branch, address, and condition details.</a:t>
            </a:r>
          </a:p>
          <a:p>
            <a:pPr algn="l">
              <a:spcAft>
                <a:spcPts val="200"/>
              </a:spcAft>
              <a:defRPr sz="1030">
                <a:solidFill>
                  <a:srgbClr val="192738"/>
                </a:solidFill>
                <a:latin typeface="Arial"/>
              </a:defRPr>
            </a:pPr>
            <a:r>
              <a:t>• Many useful source documents are paper records, scans, or flat PDFs, not structured data.</a:t>
            </a:r>
          </a:p>
          <a:p>
            <a:pPr algn="l">
              <a:spcAft>
                <a:spcPts val="200"/>
              </a:spcAft>
              <a:defRPr sz="1030">
                <a:solidFill>
                  <a:srgbClr val="192738"/>
                </a:solidFill>
                <a:latin typeface="Arial"/>
              </a:defRPr>
            </a:pPr>
            <a:r>
              <a:t>• Incomplete or wrong-form submissions can delay an already high-stakes benefits process.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960120"/>
            <a:ext cx="1325880" cy="914400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64008"/>
          <a:lstStyle/>
          <a:p>
            <a:pPr algn="ctr"/>
            <a:r>
              <a:rPr sz="2200" b="1">
                <a:solidFill>
                  <a:srgbClr val="192738"/>
                </a:solidFill>
                <a:latin typeface="Arial"/>
              </a:rPr>
              <a:t>125+</a:t>
            </a:r>
          </a:p>
          <a:p>
            <a:pPr algn="ctr"/>
            <a:r>
              <a:rPr sz="850">
                <a:solidFill>
                  <a:srgbClr val="192738"/>
                </a:solidFill>
                <a:latin typeface="Arial"/>
              </a:rPr>
              <a:t>days: VA threshold for a backlogged claim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960120"/>
            <a:ext cx="1325880" cy="914400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64008"/>
          <a:lstStyle/>
          <a:p>
            <a:pPr algn="ctr"/>
            <a:r>
              <a:rPr sz="2200" b="1">
                <a:solidFill>
                  <a:srgbClr val="192738"/>
                </a:solidFill>
                <a:latin typeface="Arial"/>
              </a:rPr>
              <a:t>141.5</a:t>
            </a:r>
          </a:p>
          <a:p>
            <a:pPr algn="ctr"/>
            <a:r>
              <a:rPr sz="850">
                <a:solidFill>
                  <a:srgbClr val="192738"/>
                </a:solidFill>
                <a:latin typeface="Arial"/>
              </a:rPr>
              <a:t>days average processing time in Jan.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2121408"/>
            <a:ext cx="1325880" cy="914400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64008"/>
          <a:lstStyle/>
          <a:p>
            <a:pPr algn="ctr"/>
            <a:r>
              <a:rPr sz="2200" b="1">
                <a:solidFill>
                  <a:srgbClr val="192738"/>
                </a:solidFill>
                <a:latin typeface="Arial"/>
              </a:rPr>
              <a:t>~80</a:t>
            </a:r>
          </a:p>
          <a:p>
            <a:pPr algn="ctr"/>
            <a:r>
              <a:rPr sz="850">
                <a:solidFill>
                  <a:srgbClr val="192738"/>
                </a:solidFill>
                <a:latin typeface="Arial"/>
              </a:rPr>
              <a:t>days reported after VA processing improvements in early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2121408"/>
            <a:ext cx="1325880" cy="914400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64008"/>
          <a:lstStyle/>
          <a:p>
            <a:pPr algn="ctr"/>
            <a:r>
              <a:rPr sz="2200" b="1">
                <a:solidFill>
                  <a:srgbClr val="192738"/>
                </a:solidFill>
                <a:latin typeface="Arial"/>
              </a:rPr>
              <a:t>1M+</a:t>
            </a:r>
          </a:p>
          <a:p>
            <a:pPr algn="ctr"/>
            <a:r>
              <a:rPr sz="850">
                <a:solidFill>
                  <a:srgbClr val="192738"/>
                </a:solidFill>
                <a:latin typeface="Arial"/>
              </a:rPr>
              <a:t>VA disability claims processed annually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3401568"/>
            <a:ext cx="27889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19" b="1">
                <a:solidFill>
                  <a:srgbClr val="192738"/>
                </a:solidFill>
                <a:latin typeface="Arial"/>
              </a:rPr>
              <a:t>VetAssist targets the preparation gap before adjudication: knowing what to pursue, what forms to use, and what information is missing.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07992"/>
            <a:ext cx="7040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646464"/>
                </a:solidFill>
                <a:latin typeface="Arial"/>
              </a:rPr>
              <a:t>Sources summarized from README: VA.gov press room, VA FY2023 Benefits Report. Current claims should be verified before final submission.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92738"/>
                </a:solidFill>
                <a:latin typeface="Arial"/>
              </a:rPr>
              <a:t>Before: The Painful Journey Today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1325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>
                <a:solidFill>
                  <a:srgbClr val="192738"/>
                </a:solidFill>
                <a:latin typeface="Arial"/>
              </a:rPr>
              <a:t>Suspects benefits exist</a:t>
            </a:r>
          </a:p>
          <a:p>
            <a:pPr>
              <a:spcBef>
                <a:spcPts val="400"/>
              </a:spcBef>
            </a:pPr>
            <a:r>
              <a:rPr sz="730">
                <a:solidFill>
                  <a:srgbClr val="192738"/>
                </a:solidFill>
                <a:latin typeface="Arial"/>
              </a:rPr>
              <a:t>A veteran thinks help may be available.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28800" y="1810512"/>
            <a:ext cx="210312" cy="0"/>
          </a:xfrm>
          <a:prstGeom prst="line">
            <a:avLst/>
          </a:prstGeom>
          <a:ln w="19050">
            <a:solidFill>
              <a:srgbClr val="4D8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075688" y="1097280"/>
            <a:ext cx="1325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>
                <a:solidFill>
                  <a:srgbClr val="192738"/>
                </a:solidFill>
                <a:latin typeface="Arial"/>
              </a:rPr>
              <a:t>Searches VA.gov / Google</a:t>
            </a:r>
          </a:p>
          <a:p>
            <a:pPr>
              <a:spcBef>
                <a:spcPts val="400"/>
              </a:spcBef>
            </a:pPr>
            <a:r>
              <a:rPr sz="730">
                <a:solidFill>
                  <a:srgbClr val="192738"/>
                </a:solidFill>
                <a:latin typeface="Arial"/>
              </a:rPr>
              <a:t>Finds programs, pages, and PDFs without a guided path.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01568" y="1810512"/>
            <a:ext cx="210312" cy="0"/>
          </a:xfrm>
          <a:prstGeom prst="line">
            <a:avLst/>
          </a:prstGeom>
          <a:ln w="19050">
            <a:solidFill>
              <a:srgbClr val="4D8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48456" y="1097280"/>
            <a:ext cx="1325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>
                <a:solidFill>
                  <a:srgbClr val="192738"/>
                </a:solidFill>
                <a:latin typeface="Arial"/>
              </a:rPr>
              <a:t>Downloads forms</a:t>
            </a:r>
          </a:p>
          <a:p>
            <a:pPr>
              <a:spcBef>
                <a:spcPts val="400"/>
              </a:spcBef>
            </a:pPr>
            <a:r>
              <a:rPr sz="730">
                <a:solidFill>
                  <a:srgbClr val="192738"/>
                </a:solidFill>
                <a:latin typeface="Arial"/>
              </a:rPr>
              <a:t>May face a long PDF or paper-first process.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74336" y="1810512"/>
            <a:ext cx="210312" cy="0"/>
          </a:xfrm>
          <a:prstGeom prst="line">
            <a:avLst/>
          </a:prstGeom>
          <a:ln w="19050">
            <a:solidFill>
              <a:srgbClr val="4D8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221224" y="1097280"/>
            <a:ext cx="1325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>
                <a:solidFill>
                  <a:srgbClr val="192738"/>
                </a:solidFill>
                <a:latin typeface="Arial"/>
              </a:rPr>
              <a:t>Re-enters data</a:t>
            </a:r>
          </a:p>
          <a:p>
            <a:pPr>
              <a:spcBef>
                <a:spcPts val="400"/>
              </a:spcBef>
            </a:pPr>
            <a:r>
              <a:rPr sz="730">
                <a:solidFill>
                  <a:srgbClr val="192738"/>
                </a:solidFill>
                <a:latin typeface="Arial"/>
              </a:rPr>
              <a:t>Same identity and service data across 3-5 forms.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47104" y="1810512"/>
            <a:ext cx="210312" cy="0"/>
          </a:xfrm>
          <a:prstGeom prst="line">
            <a:avLst/>
          </a:prstGeom>
          <a:ln w="19050">
            <a:solidFill>
              <a:srgbClr val="4D8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793992" y="1097280"/>
            <a:ext cx="1325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>
                <a:solidFill>
                  <a:srgbClr val="192738"/>
                </a:solidFill>
                <a:latin typeface="Arial"/>
              </a:rPr>
              <a:t>Submits and waits</a:t>
            </a:r>
          </a:p>
          <a:p>
            <a:pPr>
              <a:spcBef>
                <a:spcPts val="400"/>
              </a:spcBef>
            </a:pPr>
            <a:r>
              <a:rPr sz="730">
                <a:solidFill>
                  <a:srgbClr val="192738"/>
                </a:solidFill>
                <a:latin typeface="Arial"/>
              </a:rPr>
              <a:t>Wrong or incomplete packages can create delay.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971800"/>
            <a:ext cx="2971800" cy="713232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B0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100" b="1">
                <a:solidFill>
                  <a:srgbClr val="B02D2D"/>
                </a:solidFill>
                <a:latin typeface="Arial"/>
              </a:rPr>
              <a:t>If incomplete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192738"/>
                </a:solidFill>
                <a:latin typeface="Arial"/>
              </a:rPr>
              <a:t>Rejected, corrected, resubmitted, or delayed before real review can begin.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2971800"/>
            <a:ext cx="2971800" cy="713232"/>
          </a:xfrm>
          <a:prstGeom prst="roundRect">
            <a:avLst/>
          </a:prstGeom>
          <a:solidFill>
            <a:srgbClr val="E8F8E8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100" b="1">
                <a:solidFill>
                  <a:srgbClr val="2E7D32"/>
                </a:solidFill>
                <a:latin typeface="Arial"/>
              </a:rPr>
              <a:t>If correct</a:t>
            </a:r>
          </a:p>
          <a:p>
            <a:pPr>
              <a:spcBef>
                <a:spcPts val="400"/>
              </a:spcBef>
            </a:pPr>
            <a:r>
              <a:rPr sz="800">
                <a:solidFill>
                  <a:srgbClr val="192738"/>
                </a:solidFill>
                <a:latin typeface="Arial"/>
              </a:rPr>
              <a:t>Claim enters VA adjudication; VetAssist does not claim to shorten this official review.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07992"/>
            <a:ext cx="7040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646464"/>
                </a:solidFill>
                <a:latin typeface="Arial"/>
              </a:rPr>
              <a:t>Copied conceptually from README Diagram 1: the confusion is upstream of VA adjudication.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92738"/>
                </a:solidFill>
                <a:latin typeface="Arial"/>
              </a:rPr>
              <a:t>Solution: Understand, Prepare, Connect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2057400" cy="2057400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600" b="1">
                <a:solidFill>
                  <a:srgbClr val="1A3A6B"/>
                </a:solidFill>
                <a:latin typeface="Arial"/>
              </a:rPr>
              <a:t>Understand</a:t>
            </a:r>
          </a:p>
          <a:p>
            <a:pPr>
              <a:spcBef>
                <a:spcPts val="400"/>
              </a:spcBef>
            </a:pPr>
            <a:r>
              <a:rPr sz="919">
                <a:solidFill>
                  <a:srgbClr val="192738"/>
                </a:solidFill>
                <a:latin typeface="Arial"/>
              </a:rPr>
              <a:t>Reads a profile or self-entered information and surfaces benefits worth exploring in plain language, with VA.gov links and VSO guidance.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2084831"/>
            <a:ext cx="274320" cy="0"/>
          </a:xfrm>
          <a:prstGeom prst="line">
            <a:avLst/>
          </a:prstGeom>
          <a:ln w="19050">
            <a:solidFill>
              <a:srgbClr val="4D8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91840" y="1051560"/>
            <a:ext cx="20574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600" b="1">
                <a:solidFill>
                  <a:srgbClr val="192738"/>
                </a:solidFill>
                <a:latin typeface="Arial"/>
              </a:rPr>
              <a:t>Prepare</a:t>
            </a:r>
          </a:p>
          <a:p>
            <a:pPr>
              <a:spcBef>
                <a:spcPts val="400"/>
              </a:spcBef>
            </a:pPr>
            <a:r>
              <a:rPr sz="919">
                <a:solidFill>
                  <a:srgbClr val="192738"/>
                </a:solidFill>
                <a:latin typeface="Arial"/>
              </a:rPr>
              <a:t>Matches benefits to VA forms, prefills known fields, flags gaps, and suggests source documents such as a DD-214 for missing values.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49240" y="2084831"/>
            <a:ext cx="274320" cy="0"/>
          </a:xfrm>
          <a:prstGeom prst="line">
            <a:avLst/>
          </a:prstGeom>
          <a:ln w="19050">
            <a:solidFill>
              <a:srgbClr val="4D8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897880" y="1051560"/>
            <a:ext cx="2057400" cy="2057400"/>
          </a:xfrm>
          <a:prstGeom prst="roundRect">
            <a:avLst/>
          </a:prstGeom>
          <a:solidFill>
            <a:srgbClr val="E8F8E8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600" b="1">
                <a:solidFill>
                  <a:srgbClr val="2E7D32"/>
                </a:solidFill>
                <a:latin typeface="Arial"/>
              </a:rPr>
              <a:t>Connect</a:t>
            </a:r>
          </a:p>
          <a:p>
            <a:pPr>
              <a:spcBef>
                <a:spcPts val="400"/>
              </a:spcBef>
            </a:pPr>
            <a:r>
              <a:rPr sz="919">
                <a:solidFill>
                  <a:srgbClr val="192738"/>
                </a:solidFill>
                <a:latin typeface="Arial"/>
              </a:rPr>
              <a:t>Creates a reviewable preparation package and points veterans to VSO/VA next steps. The veteran verifies every value; the VA decides.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01568"/>
            <a:ext cx="6400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192738"/>
                </a:solidFill>
                <a:latin typeface="Arial"/>
              </a:rPr>
              <a:t>The differentiator is the combined session: discovery + form matching + prefill + document vision + conversational gap filling.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07992"/>
            <a:ext cx="7040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646464"/>
                </a:solidFill>
                <a:latin typeface="Arial"/>
              </a:rPr>
              <a:t>Framing used throughout: “worth exploring,” never “eligible.”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92738"/>
                </a:solidFill>
                <a:latin typeface="Arial"/>
              </a:rPr>
              <a:t>Before / After User Journey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32461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B02D2D"/>
                </a:solidFill>
                <a:latin typeface="Arial"/>
              </a:rPr>
              <a:t>Before VetAssist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841248"/>
            <a:ext cx="32461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Arial"/>
              </a:rPr>
              <a:t>With VetAssist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3246120" cy="384048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B0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19" b="1">
                <a:solidFill>
                  <a:srgbClr val="B02D2D"/>
                </a:solidFill>
                <a:latin typeface="Arial"/>
              </a:rPr>
              <a:t>Guess benefit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73352"/>
            <a:ext cx="3246120" cy="384048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B0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19" b="1">
                <a:solidFill>
                  <a:srgbClr val="B02D2D"/>
                </a:solidFill>
                <a:latin typeface="Arial"/>
              </a:rPr>
              <a:t>Search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03704"/>
            <a:ext cx="3246120" cy="384048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B0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19" b="1">
                <a:solidFill>
                  <a:srgbClr val="B02D2D"/>
                </a:solidFill>
                <a:latin typeface="Arial"/>
              </a:rPr>
              <a:t>Find long PDFs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34056"/>
            <a:ext cx="3246120" cy="384048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B0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19" b="1">
                <a:solidFill>
                  <a:srgbClr val="B02D2D"/>
                </a:solidFill>
                <a:latin typeface="Arial"/>
              </a:rPr>
              <a:t>Re-type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64408"/>
            <a:ext cx="3246120" cy="384048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B0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19" b="1">
                <a:solidFill>
                  <a:srgbClr val="B02D2D"/>
                </a:solidFill>
                <a:latin typeface="Arial"/>
              </a:rPr>
              <a:t>Hope package is complete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143000"/>
            <a:ext cx="3246120" cy="384048"/>
          </a:xfrm>
          <a:prstGeom prst="roundRect">
            <a:avLst/>
          </a:prstGeom>
          <a:solidFill>
            <a:srgbClr val="EFFAE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19" b="1">
                <a:solidFill>
                  <a:srgbClr val="2E7D32"/>
                </a:solidFill>
                <a:latin typeface="Arial"/>
              </a:rPr>
              <a:t>Load or enter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673352"/>
            <a:ext cx="3246120" cy="384048"/>
          </a:xfrm>
          <a:prstGeom prst="roundRect">
            <a:avLst/>
          </a:prstGeom>
          <a:solidFill>
            <a:srgbClr val="EFFAE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19" b="1">
                <a:solidFill>
                  <a:srgbClr val="2E7D32"/>
                </a:solidFill>
                <a:latin typeface="Arial"/>
              </a:rPr>
              <a:t>See benefits worth exploring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203704"/>
            <a:ext cx="3246120" cy="384048"/>
          </a:xfrm>
          <a:prstGeom prst="roundRect">
            <a:avLst/>
          </a:prstGeom>
          <a:solidFill>
            <a:srgbClr val="EFFAE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19" b="1">
                <a:solidFill>
                  <a:srgbClr val="2E7D32"/>
                </a:solidFill>
                <a:latin typeface="Arial"/>
              </a:rPr>
              <a:t>Review matched forms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734056"/>
            <a:ext cx="3246120" cy="384048"/>
          </a:xfrm>
          <a:prstGeom prst="roundRect">
            <a:avLst/>
          </a:prstGeom>
          <a:solidFill>
            <a:srgbClr val="EFFAE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19" b="1">
                <a:solidFill>
                  <a:srgbClr val="2E7D32"/>
                </a:solidFill>
                <a:latin typeface="Arial"/>
              </a:rPr>
              <a:t>Scan docs + confirm fields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264408"/>
            <a:ext cx="3246120" cy="384048"/>
          </a:xfrm>
          <a:prstGeom prst="roundRect">
            <a:avLst/>
          </a:prstGeom>
          <a:solidFill>
            <a:srgbClr val="EFFAE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19" b="1">
                <a:solidFill>
                  <a:srgbClr val="2E7D32"/>
                </a:solidFill>
                <a:latin typeface="Arial"/>
              </a:rPr>
              <a:t>Bring package to VSO/VA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950208"/>
            <a:ext cx="2697480" cy="457200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B0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200" b="1">
                <a:solidFill>
                  <a:srgbClr val="B02D2D"/>
                </a:solidFill>
                <a:latin typeface="Arial"/>
              </a:rPr>
              <a:t>Hours or days of confusion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56048" y="3950208"/>
            <a:ext cx="2697480" cy="457200"/>
          </a:xfrm>
          <a:prstGeom prst="roundRect">
            <a:avLst/>
          </a:prstGeom>
          <a:solidFill>
            <a:srgbClr val="E8F8E8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200" b="1">
                <a:solidFill>
                  <a:srgbClr val="2E7D32"/>
                </a:solidFill>
                <a:latin typeface="Arial"/>
              </a:rPr>
              <a:t>Target: under 30 minutes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07992"/>
            <a:ext cx="7040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646464"/>
                </a:solidFill>
                <a:latin typeface="Arial"/>
              </a:rPr>
              <a:t>Copied conceptually from README Diagram 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92738"/>
                </a:solidFill>
                <a:latin typeface="Arial"/>
              </a:rPr>
              <a:t>What Is Real In The MVP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94360" y="932688"/>
            <a:ext cx="4069080" cy="475488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950" b="1">
                <a:solidFill>
                  <a:srgbClr val="192738"/>
                </a:solidFill>
                <a:latin typeface="Arial"/>
              </a:rPr>
              <a:t>Profile paths</a:t>
            </a:r>
          </a:p>
          <a:p>
            <a:pPr>
              <a:spcBef>
                <a:spcPts val="400"/>
              </a:spcBef>
            </a:pPr>
            <a:r>
              <a:rPr sz="750">
                <a:solidFill>
                  <a:srgbClr val="192738"/>
                </a:solidFill>
                <a:latin typeface="Arial"/>
              </a:rPr>
              <a:t>3 synthetic demo profiles, manual entry, and Step 1 document scan with API key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40690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950" b="1">
                <a:solidFill>
                  <a:srgbClr val="192738"/>
                </a:solidFill>
                <a:latin typeface="Arial"/>
              </a:rPr>
              <a:t>Benefit discovery</a:t>
            </a:r>
          </a:p>
          <a:p>
            <a:pPr>
              <a:spcBef>
                <a:spcPts val="400"/>
              </a:spcBef>
            </a:pPr>
            <a:r>
              <a:rPr sz="750">
                <a:solidFill>
                  <a:srgbClr val="192738"/>
                </a:solidFill>
                <a:latin typeface="Arial"/>
              </a:rPr>
              <a:t>Claude-first when configured; deterministic rules fallback without an API key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76272"/>
            <a:ext cx="4069080" cy="475488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950" b="1">
                <a:solidFill>
                  <a:srgbClr val="192738"/>
                </a:solidFill>
                <a:latin typeface="Arial"/>
              </a:rPr>
              <a:t>Forms + prefill</a:t>
            </a:r>
          </a:p>
          <a:p>
            <a:pPr>
              <a:spcBef>
                <a:spcPts val="400"/>
              </a:spcBef>
            </a:pPr>
            <a:r>
              <a:rPr sz="750">
                <a:solidFill>
                  <a:srgbClr val="192738"/>
                </a:solidFill>
                <a:latin typeface="Arial"/>
              </a:rPr>
              <a:t>5 VA forms, 16-34 fields each, with required flags and source-document hints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98064"/>
            <a:ext cx="40690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950" b="1">
                <a:solidFill>
                  <a:srgbClr val="192738"/>
                </a:solidFill>
                <a:latin typeface="Arial"/>
              </a:rPr>
              <a:t>Document vision</a:t>
            </a:r>
          </a:p>
          <a:p>
            <a:pPr>
              <a:spcBef>
                <a:spcPts val="400"/>
              </a:spcBef>
            </a:pPr>
            <a:r>
              <a:rPr sz="750">
                <a:solidFill>
                  <a:srgbClr val="192738"/>
                </a:solidFill>
                <a:latin typeface="Arial"/>
              </a:rPr>
              <a:t>Claude reads DD-214 / 21-4142 photos and returns fields for veteran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419856"/>
            <a:ext cx="4069080" cy="475488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950" b="1">
                <a:solidFill>
                  <a:srgbClr val="192738"/>
                </a:solidFill>
                <a:latin typeface="Arial"/>
              </a:rPr>
              <a:t>Output package</a:t>
            </a:r>
          </a:p>
          <a:p>
            <a:pPr>
              <a:spcBef>
                <a:spcPts val="400"/>
              </a:spcBef>
            </a:pPr>
            <a:r>
              <a:rPr sz="750">
                <a:solidFill>
                  <a:srgbClr val="192738"/>
                </a:solidFill>
                <a:latin typeface="Arial"/>
              </a:rPr>
              <a:t>ReportLab PDF cover page + field summary; not XFA-filled official forms</a:t>
            </a:r>
          </a:p>
        </p:txBody>
      </p:sp>
      <p:pic>
        <p:nvPicPr>
          <p:cNvPr id="9" name="Picture 8" descr="DD_214_mockup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051560"/>
            <a:ext cx="2606040" cy="35694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74920" y="3822191"/>
            <a:ext cx="2606040" cy="3291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750" b="0">
                <a:solidFill>
                  <a:srgbClr val="646464"/>
                </a:solidFill>
                <a:latin typeface="Arial"/>
              </a:rPr>
              <a:t>Synthetic DD-214 mockup used for document photo-to-prefill testing.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07992"/>
            <a:ext cx="7040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646464"/>
                </a:solidFill>
                <a:latin typeface="Arial"/>
              </a:rPr>
              <a:t>Source: README, CLAUDE.md, data/forms_catalog.json, services/document_vision.py, services/pdf_generator.py.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92738"/>
                </a:solidFill>
                <a:latin typeface="Arial"/>
              </a:rPr>
              <a:t>MVP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84048" y="1234440"/>
            <a:ext cx="1325880" cy="1417320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100" b="1">
                <a:solidFill>
                  <a:srgbClr val="192738"/>
                </a:solidFill>
                <a:latin typeface="Arial"/>
              </a:rPr>
              <a:t>Browser</a:t>
            </a:r>
          </a:p>
          <a:p>
            <a:pPr>
              <a:spcBef>
                <a:spcPts val="400"/>
              </a:spcBef>
            </a:pPr>
            <a:r>
              <a:rPr sz="720">
                <a:solidFill>
                  <a:srgbClr val="192738"/>
                </a:solidFill>
                <a:latin typeface="Arial"/>
              </a:rPr>
              <a:t>templates/index.html</a:t>
            </a:r>
            <a:br/>
            <a:r>
              <a:rPr sz="720">
                <a:solidFill>
                  <a:srgbClr val="192738"/>
                </a:solidFill>
                <a:latin typeface="Arial"/>
              </a:rPr>
              <a:t>vanilla JS, no build step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09928" y="1920240"/>
            <a:ext cx="246888" cy="0"/>
          </a:xfrm>
          <a:prstGeom prst="line">
            <a:avLst/>
          </a:prstGeom>
          <a:ln w="19050">
            <a:solidFill>
              <a:srgbClr val="4D8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048256" y="1234440"/>
            <a:ext cx="1325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100" b="1">
                <a:solidFill>
                  <a:srgbClr val="192738"/>
                </a:solidFill>
                <a:latin typeface="Arial"/>
              </a:rPr>
              <a:t>FastAPI</a:t>
            </a:r>
          </a:p>
          <a:p>
            <a:pPr>
              <a:spcBef>
                <a:spcPts val="400"/>
              </a:spcBef>
            </a:pPr>
            <a:r>
              <a:rPr sz="720">
                <a:solidFill>
                  <a:srgbClr val="192738"/>
                </a:solidFill>
                <a:latin typeface="Arial"/>
              </a:rPr>
              <a:t>main.py</a:t>
            </a:r>
            <a:br/>
            <a:r>
              <a:rPr sz="720">
                <a:solidFill>
                  <a:srgbClr val="192738"/>
                </a:solidFill>
                <a:latin typeface="Arial"/>
              </a:rPr>
              <a:t>profile, benefits, forms, upload, chat, PDF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74136" y="1920240"/>
            <a:ext cx="246888" cy="0"/>
          </a:xfrm>
          <a:prstGeom prst="line">
            <a:avLst/>
          </a:prstGeom>
          <a:ln w="19050">
            <a:solidFill>
              <a:srgbClr val="4D8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12464" y="1234440"/>
            <a:ext cx="1325880" cy="1417320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100" b="1">
                <a:solidFill>
                  <a:srgbClr val="192738"/>
                </a:solidFill>
                <a:latin typeface="Arial"/>
              </a:rPr>
              <a:t>Services</a:t>
            </a:r>
          </a:p>
          <a:p>
            <a:pPr>
              <a:spcBef>
                <a:spcPts val="400"/>
              </a:spcBef>
            </a:pPr>
            <a:r>
              <a:rPr sz="720">
                <a:solidFill>
                  <a:srgbClr val="192738"/>
                </a:solidFill>
                <a:latin typeface="Arial"/>
              </a:rPr>
              <a:t>benefit_discovery</a:t>
            </a:r>
            <a:br/>
            <a:r>
              <a:rPr sz="720">
                <a:solidFill>
                  <a:srgbClr val="192738"/>
                </a:solidFill>
                <a:latin typeface="Arial"/>
              </a:rPr>
              <a:t>form_matcher</a:t>
            </a:r>
            <a:br/>
            <a:r>
              <a:rPr sz="720">
                <a:solidFill>
                  <a:srgbClr val="192738"/>
                </a:solidFill>
                <a:latin typeface="Arial"/>
              </a:rPr>
              <a:t>document_vision</a:t>
            </a:r>
            <a:br/>
            <a:r>
              <a:rPr sz="720">
                <a:solidFill>
                  <a:srgbClr val="192738"/>
                </a:solidFill>
                <a:latin typeface="Arial"/>
              </a:rPr>
              <a:t>claude_chat</a:t>
            </a:r>
            <a:br/>
            <a:r>
              <a:rPr sz="720">
                <a:solidFill>
                  <a:srgbClr val="192738"/>
                </a:solidFill>
                <a:latin typeface="Arial"/>
              </a:rPr>
              <a:t>pdf_generator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38344" y="1920240"/>
            <a:ext cx="246888" cy="0"/>
          </a:xfrm>
          <a:prstGeom prst="line">
            <a:avLst/>
          </a:prstGeom>
          <a:ln w="19050">
            <a:solidFill>
              <a:srgbClr val="4D8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376672" y="1234440"/>
            <a:ext cx="1325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100" b="1">
                <a:solidFill>
                  <a:srgbClr val="192738"/>
                </a:solidFill>
                <a:latin typeface="Arial"/>
              </a:rPr>
              <a:t>Data</a:t>
            </a:r>
          </a:p>
          <a:p>
            <a:pPr>
              <a:spcBef>
                <a:spcPts val="400"/>
              </a:spcBef>
            </a:pPr>
            <a:r>
              <a:rPr sz="720">
                <a:solidFill>
                  <a:srgbClr val="192738"/>
                </a:solidFill>
                <a:latin typeface="Arial"/>
              </a:rPr>
              <a:t>JSON catalogs</a:t>
            </a:r>
            <a:br/>
            <a:r>
              <a:rPr sz="720">
                <a:solidFill>
                  <a:srgbClr val="192738"/>
                </a:solidFill>
                <a:latin typeface="Arial"/>
              </a:rPr>
              <a:t>synthetic veterans</a:t>
            </a:r>
            <a:br/>
            <a:r>
              <a:rPr sz="720">
                <a:solidFill>
                  <a:srgbClr val="192738"/>
                </a:solidFill>
                <a:latin typeface="Arial"/>
              </a:rPr>
              <a:t>branch contacts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02552" y="1920240"/>
            <a:ext cx="246888" cy="0"/>
          </a:xfrm>
          <a:prstGeom prst="line">
            <a:avLst/>
          </a:prstGeom>
          <a:ln w="19050">
            <a:solidFill>
              <a:srgbClr val="4D8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40880" y="1234440"/>
            <a:ext cx="1325880" cy="1417320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100" b="1">
                <a:solidFill>
                  <a:srgbClr val="192738"/>
                </a:solidFill>
                <a:latin typeface="Arial"/>
              </a:rPr>
              <a:t>Claude</a:t>
            </a:r>
          </a:p>
          <a:p>
            <a:pPr>
              <a:spcBef>
                <a:spcPts val="400"/>
              </a:spcBef>
            </a:pPr>
            <a:r>
              <a:rPr sz="720">
                <a:solidFill>
                  <a:srgbClr val="192738"/>
                </a:solidFill>
                <a:latin typeface="Arial"/>
              </a:rPr>
              <a:t>Optional API</a:t>
            </a:r>
            <a:br/>
            <a:r>
              <a:rPr sz="720">
                <a:solidFill>
                  <a:srgbClr val="192738"/>
                </a:solidFill>
                <a:latin typeface="Arial"/>
              </a:rPr>
              <a:t>text + vision</a:t>
            </a:r>
            <a:br/>
            <a:r>
              <a:rPr sz="720">
                <a:solidFill>
                  <a:srgbClr val="192738"/>
                </a:solidFill>
                <a:latin typeface="Arial"/>
              </a:rPr>
              <a:t>rules fallback if unavailable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2057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00" b="1">
                <a:solidFill>
                  <a:srgbClr val="192738"/>
                </a:solidFill>
                <a:latin typeface="Arial"/>
              </a:rPr>
              <a:t>JSON → database</a:t>
            </a:r>
          </a:p>
          <a:p>
            <a:pPr>
              <a:spcBef>
                <a:spcPts val="400"/>
              </a:spcBef>
            </a:pPr>
            <a:r>
              <a:rPr sz="780">
                <a:solidFill>
                  <a:srgbClr val="192738"/>
                </a:solidFill>
                <a:latin typeface="Arial"/>
              </a:rPr>
              <a:t>PostgreSQL or DynamoDB when persistence matters.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3200400"/>
            <a:ext cx="2057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00" b="1">
                <a:solidFill>
                  <a:srgbClr val="192738"/>
                </a:solidFill>
                <a:latin typeface="Arial"/>
              </a:rPr>
              <a:t>Anthropic → Bedrock</a:t>
            </a:r>
          </a:p>
          <a:p>
            <a:pPr>
              <a:spcBef>
                <a:spcPts val="400"/>
              </a:spcBef>
            </a:pPr>
            <a:r>
              <a:rPr sz="780">
                <a:solidFill>
                  <a:srgbClr val="192738"/>
                </a:solidFill>
                <a:latin typeface="Arial"/>
              </a:rPr>
              <a:t>Federal-ready model runtime path; SDK change, not a rewrite.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3200400"/>
            <a:ext cx="2057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00" b="1">
                <a:solidFill>
                  <a:srgbClr val="192738"/>
                </a:solidFill>
                <a:latin typeface="Arial"/>
              </a:rPr>
              <a:t>Local → GovCloud</a:t>
            </a:r>
          </a:p>
          <a:p>
            <a:pPr>
              <a:spcBef>
                <a:spcPts val="400"/>
              </a:spcBef>
            </a:pPr>
            <a:r>
              <a:rPr sz="780">
                <a:solidFill>
                  <a:srgbClr val="192738"/>
                </a:solidFill>
                <a:latin typeface="Arial"/>
              </a:rPr>
              <a:t>AWS GovCloud + FISMA/FedRAMP authorization path.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07992"/>
            <a:ext cx="7040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646464"/>
                </a:solidFill>
                <a:latin typeface="Arial"/>
              </a:rPr>
              <a:t>Copied conceptually from README Diagrams 4, 5, and 7; implementation details verified in service 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92738"/>
                </a:solidFill>
                <a:latin typeface="Arial"/>
              </a:rPr>
              <a:t>Impact &amp; Originality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1417320" cy="960120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64008"/>
          <a:lstStyle/>
          <a:p>
            <a:pPr algn="ctr"/>
            <a:r>
              <a:rPr sz="2200" b="1">
                <a:solidFill>
                  <a:srgbClr val="192738"/>
                </a:solidFill>
                <a:latin typeface="Arial"/>
              </a:rPr>
              <a:t>200k</a:t>
            </a:r>
          </a:p>
          <a:p>
            <a:pPr algn="ctr"/>
            <a:r>
              <a:rPr sz="850">
                <a:solidFill>
                  <a:srgbClr val="192738"/>
                </a:solidFill>
                <a:latin typeface="Arial"/>
              </a:rPr>
              <a:t>veteran-hours recovered/year if 10% of ~1M annual disability claims save 2 hours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914400"/>
            <a:ext cx="1417320" cy="960120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64008"/>
          <a:lstStyle/>
          <a:p>
            <a:pPr algn="ctr"/>
            <a:r>
              <a:rPr sz="2200" b="1">
                <a:solidFill>
                  <a:srgbClr val="192738"/>
                </a:solidFill>
                <a:latin typeface="Arial"/>
              </a:rPr>
              <a:t>5</a:t>
            </a:r>
          </a:p>
          <a:p>
            <a:pPr algn="ctr"/>
            <a:r>
              <a:rPr sz="850">
                <a:solidFill>
                  <a:srgbClr val="192738"/>
                </a:solidFill>
                <a:latin typeface="Arial"/>
              </a:rPr>
              <a:t>VA forms cataloged with field-level metadata and VA.gov links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914400"/>
            <a:ext cx="1417320" cy="960120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64008"/>
          <a:lstStyle/>
          <a:p>
            <a:pPr algn="ctr"/>
            <a:r>
              <a:rPr sz="2200" b="1">
                <a:solidFill>
                  <a:srgbClr val="192738"/>
                </a:solidFill>
                <a:latin typeface="Arial"/>
              </a:rPr>
              <a:t>3</a:t>
            </a:r>
          </a:p>
          <a:p>
            <a:pPr algn="ctr"/>
            <a:r>
              <a:rPr sz="850">
                <a:solidFill>
                  <a:srgbClr val="192738"/>
                </a:solidFill>
                <a:latin typeface="Arial"/>
              </a:rPr>
              <a:t>profile entry modes: demo, manual, document scan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914400"/>
            <a:ext cx="1417320" cy="960120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64008"/>
          <a:lstStyle/>
          <a:p>
            <a:pPr algn="ctr"/>
            <a:r>
              <a:rPr sz="2200" b="1">
                <a:solidFill>
                  <a:srgbClr val="192738"/>
                </a:solidFill>
                <a:latin typeface="Arial"/>
              </a:rPr>
              <a:t>1</a:t>
            </a:r>
          </a:p>
          <a:p>
            <a:pPr algn="ctr"/>
            <a:r>
              <a:rPr sz="850">
                <a:solidFill>
                  <a:srgbClr val="192738"/>
                </a:solidFill>
                <a:latin typeface="Arial"/>
              </a:rPr>
              <a:t>guided session instead of disconnected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3291840" cy="14173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/>
            <a:r>
              <a:rPr sz="1050" b="1">
                <a:solidFill>
                  <a:srgbClr val="192738"/>
                </a:solidFill>
                <a:latin typeface="Arial"/>
              </a:rPr>
              <a:t>User value</a:t>
            </a:r>
          </a:p>
          <a:p>
            <a:pPr algn="l">
              <a:spcAft>
                <a:spcPts val="200"/>
              </a:spcAft>
              <a:defRPr sz="950">
                <a:solidFill>
                  <a:srgbClr val="192738"/>
                </a:solidFill>
                <a:latin typeface="Arial"/>
              </a:defRPr>
            </a:pPr>
            <a:r>
              <a:t>• Veterans spend less time figuring out what to file and what information is missing.</a:t>
            </a:r>
          </a:p>
          <a:p>
            <a:pPr algn="l">
              <a:spcAft>
                <a:spcPts val="200"/>
              </a:spcAft>
              <a:defRPr sz="950">
                <a:solidFill>
                  <a:srgbClr val="192738"/>
                </a:solidFill>
                <a:latin typeface="Arial"/>
              </a:defRPr>
            </a:pPr>
            <a:r>
              <a:t>• VSOs receive a clearer starting package instead of scattered forms and memories.</a:t>
            </a:r>
          </a:p>
          <a:p>
            <a:pPr algn="l">
              <a:spcAft>
                <a:spcPts val="200"/>
              </a:spcAft>
              <a:defRPr sz="950">
                <a:solidFill>
                  <a:srgbClr val="192738"/>
                </a:solidFill>
                <a:latin typeface="Arial"/>
              </a:defRPr>
            </a:pPr>
            <a:r>
              <a:t>• Wilcore gets a working federal-service prototype aligned with SDVOSB mission and VA modernization.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40280"/>
            <a:ext cx="3063240" cy="14173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/>
            <a:r>
              <a:rPr sz="1050" b="1">
                <a:solidFill>
                  <a:srgbClr val="192738"/>
                </a:solidFill>
                <a:latin typeface="Arial"/>
              </a:rPr>
              <a:t>Why it differs</a:t>
            </a:r>
          </a:p>
          <a:p>
            <a:pPr algn="l">
              <a:spcAft>
                <a:spcPts val="200"/>
              </a:spcAft>
              <a:defRPr sz="950">
                <a:solidFill>
                  <a:srgbClr val="192738"/>
                </a:solidFill>
                <a:latin typeface="Arial"/>
              </a:defRPr>
            </a:pPr>
            <a:r>
              <a:t>• VA.gov explains programs but does not combine discovery, prefill, document vision, and chat.</a:t>
            </a:r>
          </a:p>
          <a:p>
            <a:pPr algn="l">
              <a:spcAft>
                <a:spcPts val="200"/>
              </a:spcAft>
              <a:defRPr sz="950">
                <a:solidFill>
                  <a:srgbClr val="192738"/>
                </a:solidFill>
                <a:latin typeface="Arial"/>
              </a:defRPr>
            </a:pPr>
            <a:r>
              <a:t>• VA Form Wizard is form-by-form; benefits.gov is broad program lookup.</a:t>
            </a:r>
          </a:p>
          <a:p>
            <a:pPr algn="l">
              <a:spcAft>
                <a:spcPts val="200"/>
              </a:spcAft>
              <a:defRPr sz="950">
                <a:solidFill>
                  <a:srgbClr val="192738"/>
                </a:solidFill>
                <a:latin typeface="Arial"/>
              </a:defRPr>
            </a:pPr>
            <a:r>
              <a:t>• A VSO remains essential, but VetAssist makes the appointment more prepared.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07992"/>
            <a:ext cx="7040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646464"/>
                </a:solidFill>
                <a:latin typeface="Arial"/>
              </a:rPr>
              <a:t>Quantification from README: 10% of ~1M annual claims x 2 hours saved = ~200,000 hours. Validate assumptions before final submission.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92738"/>
                </a:solidFill>
                <a:latin typeface="Arial"/>
              </a:rPr>
              <a:t>Federal Applicability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85800" y="960120"/>
            <a:ext cx="3246120" cy="1024128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150" b="1">
                <a:solidFill>
                  <a:srgbClr val="192738"/>
                </a:solidFill>
                <a:latin typeface="Arial"/>
              </a:rPr>
              <a:t>Primary fit</a:t>
            </a:r>
          </a:p>
          <a:p>
            <a:pPr>
              <a:spcBef>
                <a:spcPts val="400"/>
              </a:spcBef>
            </a:pPr>
            <a:r>
              <a:rPr sz="840">
                <a:solidFill>
                  <a:srgbClr val="192738"/>
                </a:solidFill>
                <a:latin typeface="Arial"/>
              </a:rPr>
              <a:t>Department of Veterans Affairs benefits intake, VSO preparation, claims package readiness, and “Benefits at First Ask” style service 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960120"/>
            <a:ext cx="32461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150" b="1">
                <a:solidFill>
                  <a:srgbClr val="192738"/>
                </a:solidFill>
                <a:latin typeface="Arial"/>
              </a:rPr>
              <a:t>Privacy</a:t>
            </a:r>
          </a:p>
          <a:p>
            <a:pPr>
              <a:spcBef>
                <a:spcPts val="400"/>
              </a:spcBef>
            </a:pPr>
            <a:r>
              <a:rPr sz="840">
                <a:solidFill>
                  <a:srgbClr val="192738"/>
                </a:solidFill>
                <a:latin typeface="Arial"/>
              </a:rPr>
              <a:t>MVP uses synthetic data only. Production would need explicit consent, minimum necessary extraction, encryption, retention limits, audit logs, and PII handling.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13432"/>
            <a:ext cx="3246120" cy="1024128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150" b="1">
                <a:solidFill>
                  <a:srgbClr val="192738"/>
                </a:solidFill>
                <a:latin typeface="Arial"/>
              </a:rPr>
              <a:t>Security / compliance</a:t>
            </a:r>
          </a:p>
          <a:p>
            <a:pPr>
              <a:spcBef>
                <a:spcPts val="400"/>
              </a:spcBef>
            </a:pPr>
            <a:r>
              <a:rPr sz="840">
                <a:solidFill>
                  <a:srgbClr val="192738"/>
                </a:solidFill>
                <a:latin typeface="Arial"/>
              </a:rPr>
              <a:t>Section 508 accessibility baseline, FedRAMP-authorized hosting/model runtime, FISMA Low/Moderate ATO, and VA identity/login.gov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313432"/>
            <a:ext cx="32461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150" b="1">
                <a:solidFill>
                  <a:srgbClr val="192738"/>
                </a:solidFill>
                <a:latin typeface="Arial"/>
              </a:rPr>
              <a:t>Wilcore path</a:t>
            </a:r>
          </a:p>
          <a:p>
            <a:pPr>
              <a:spcBef>
                <a:spcPts val="400"/>
              </a:spcBef>
            </a:pPr>
            <a:r>
              <a:rPr sz="840">
                <a:solidFill>
                  <a:srgbClr val="192738"/>
                </a:solidFill>
                <a:latin typeface="Arial"/>
              </a:rPr>
              <a:t>SDVOSB background makes the veteran-service mission credible and potentially relevant to VA task-order or pilot conversations.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07992"/>
            <a:ext cx="7040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646464"/>
                </a:solidFill>
                <a:latin typeface="Arial"/>
              </a:rPr>
              <a:t>Sources: README, CLAUDE.md, VA_DESIGN_PRESENTATION_POINTS.md, VA_DESIGN_UI_AUDIT.md.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92738"/>
                </a:solidFill>
                <a:latin typeface="Arial"/>
              </a:rPr>
              <a:t>Feasibility &amp;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1298448" cy="2011680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>
                <a:solidFill>
                  <a:srgbClr val="192738"/>
                </a:solidFill>
                <a:latin typeface="Arial"/>
              </a:rPr>
              <a:t>Today</a:t>
            </a:r>
          </a:p>
          <a:p>
            <a:pPr>
              <a:spcBef>
                <a:spcPts val="400"/>
              </a:spcBef>
            </a:pPr>
            <a:r>
              <a:rPr sz="750">
                <a:solidFill>
                  <a:srgbClr val="192738"/>
                </a:solidFill>
                <a:latin typeface="Arial"/>
              </a:rPr>
              <a:t>Local MVP</a:t>
            </a:r>
            <a:br/>
            <a:r>
              <a:rPr sz="750">
                <a:solidFill>
                  <a:srgbClr val="192738"/>
                </a:solidFill>
                <a:latin typeface="Arial"/>
              </a:rPr>
              <a:t>5-6 developer-days</a:t>
            </a:r>
            <a:br/>
            <a:r>
              <a:rPr sz="750">
                <a:solidFill>
                  <a:srgbClr val="192738"/>
                </a:solidFill>
                <a:latin typeface="Arial"/>
              </a:rPr>
              <a:t>synthetic data</a:t>
            </a:r>
            <a:br/>
            <a:r>
              <a:rPr sz="750">
                <a:solidFill>
                  <a:srgbClr val="192738"/>
                </a:solidFill>
                <a:latin typeface="Arial"/>
              </a:rPr>
              <a:t>no auth/cloud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55648" y="2148840"/>
            <a:ext cx="237743" cy="0"/>
          </a:xfrm>
          <a:prstGeom prst="line">
            <a:avLst/>
          </a:prstGeom>
          <a:ln w="19050">
            <a:solidFill>
              <a:srgbClr val="4D8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029967" y="1143000"/>
            <a:ext cx="129844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>
                <a:solidFill>
                  <a:srgbClr val="192738"/>
                </a:solidFill>
                <a:latin typeface="Arial"/>
              </a:rPr>
              <a:t>Weeks 2-4</a:t>
            </a:r>
          </a:p>
          <a:p>
            <a:pPr>
              <a:spcBef>
                <a:spcPts val="400"/>
              </a:spcBef>
            </a:pPr>
            <a:r>
              <a:rPr sz="750">
                <a:solidFill>
                  <a:srgbClr val="192738"/>
                </a:solidFill>
                <a:latin typeface="Arial"/>
              </a:rPr>
              <a:t>Hosted app</a:t>
            </a:r>
            <a:br/>
            <a:r>
              <a:rPr sz="750">
                <a:solidFill>
                  <a:srgbClr val="192738"/>
                </a:solidFill>
                <a:latin typeface="Arial"/>
              </a:rPr>
              <a:t>conversation persistence</a:t>
            </a:r>
            <a:br/>
            <a:r>
              <a:rPr sz="750">
                <a:solidFill>
                  <a:srgbClr val="192738"/>
                </a:solidFill>
                <a:latin typeface="Arial"/>
              </a:rPr>
              <a:t>expanded document types</a:t>
            </a:r>
            <a:br/>
            <a:r>
              <a:rPr sz="750">
                <a:solidFill>
                  <a:srgbClr val="192738"/>
                </a:solidFill>
                <a:latin typeface="Arial"/>
              </a:rPr>
              <a:t>Postgres/DynamoDB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28415" y="2148840"/>
            <a:ext cx="237744" cy="0"/>
          </a:xfrm>
          <a:prstGeom prst="line">
            <a:avLst/>
          </a:prstGeom>
          <a:ln w="19050">
            <a:solidFill>
              <a:srgbClr val="4D8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02736" y="1143000"/>
            <a:ext cx="1298448" cy="2011680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>
                <a:solidFill>
                  <a:srgbClr val="192738"/>
                </a:solidFill>
                <a:latin typeface="Arial"/>
              </a:rPr>
              <a:t>Months 2-3</a:t>
            </a:r>
          </a:p>
          <a:p>
            <a:pPr>
              <a:spcBef>
                <a:spcPts val="400"/>
              </a:spcBef>
            </a:pPr>
            <a:r>
              <a:rPr sz="750">
                <a:solidFill>
                  <a:srgbClr val="192738"/>
                </a:solidFill>
                <a:latin typeface="Arial"/>
              </a:rPr>
              <a:t>VA Forms API</a:t>
            </a:r>
            <a:br/>
            <a:r>
              <a:rPr sz="750">
                <a:solidFill>
                  <a:srgbClr val="192738"/>
                </a:solidFill>
                <a:latin typeface="Arial"/>
              </a:rPr>
              <a:t>Bedrock Claude swap</a:t>
            </a:r>
            <a:br/>
            <a:r>
              <a:rPr sz="750">
                <a:solidFill>
                  <a:srgbClr val="192738"/>
                </a:solidFill>
                <a:latin typeface="Arial"/>
              </a:rPr>
              <a:t>Section 508 baseline</a:t>
            </a:r>
            <a:br/>
            <a:r>
              <a:rPr sz="750">
                <a:solidFill>
                  <a:srgbClr val="192738"/>
                </a:solidFill>
                <a:latin typeface="Arial"/>
              </a:rPr>
              <a:t>VSO handoff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01183" y="2148840"/>
            <a:ext cx="237745" cy="0"/>
          </a:xfrm>
          <a:prstGeom prst="line">
            <a:avLst/>
          </a:prstGeom>
          <a:ln w="19050">
            <a:solidFill>
              <a:srgbClr val="4D8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75504" y="1143000"/>
            <a:ext cx="129844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>
                <a:solidFill>
                  <a:srgbClr val="192738"/>
                </a:solidFill>
                <a:latin typeface="Arial"/>
              </a:rPr>
              <a:t>Months 4-6</a:t>
            </a:r>
          </a:p>
          <a:p>
            <a:pPr>
              <a:spcBef>
                <a:spcPts val="400"/>
              </a:spcBef>
            </a:pPr>
            <a:r>
              <a:rPr sz="750">
                <a:solidFill>
                  <a:srgbClr val="192738"/>
                </a:solidFill>
                <a:latin typeface="Arial"/>
              </a:rPr>
              <a:t>VA Benefits API</a:t>
            </a:r>
            <a:br/>
            <a:r>
              <a:rPr sz="750">
                <a:solidFill>
                  <a:srgbClr val="192738"/>
                </a:solidFill>
                <a:latin typeface="Arial"/>
              </a:rPr>
              <a:t>login.gov / VA identity</a:t>
            </a:r>
            <a:br/>
            <a:r>
              <a:rPr sz="750">
                <a:solidFill>
                  <a:srgbClr val="192738"/>
                </a:solidFill>
                <a:latin typeface="Arial"/>
              </a:rPr>
              <a:t>GovCloud path</a:t>
            </a:r>
            <a:br/>
            <a:r>
              <a:rPr sz="750">
                <a:solidFill>
                  <a:srgbClr val="192738"/>
                </a:solidFill>
                <a:latin typeface="Arial"/>
              </a:rPr>
              <a:t>ATO prep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73952" y="2148840"/>
            <a:ext cx="237744" cy="0"/>
          </a:xfrm>
          <a:prstGeom prst="line">
            <a:avLst/>
          </a:prstGeom>
          <a:ln w="19050">
            <a:solidFill>
              <a:srgbClr val="4D81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748272" y="1143000"/>
            <a:ext cx="1298448" cy="2011680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>
                <a:solidFill>
                  <a:srgbClr val="192738"/>
                </a:solidFill>
                <a:latin typeface="Arial"/>
              </a:rPr>
              <a:t>6-9 months</a:t>
            </a:r>
          </a:p>
          <a:p>
            <a:pPr>
              <a:spcBef>
                <a:spcPts val="400"/>
              </a:spcBef>
            </a:pPr>
            <a:r>
              <a:rPr sz="750">
                <a:solidFill>
                  <a:srgbClr val="192738"/>
                </a:solidFill>
                <a:latin typeface="Arial"/>
              </a:rPr>
              <a:t>VA pilot</a:t>
            </a:r>
            <a:br/>
            <a:r>
              <a:rPr sz="750">
                <a:solidFill>
                  <a:srgbClr val="192738"/>
                </a:solidFill>
                <a:latin typeface="Arial"/>
              </a:rPr>
              <a:t>3-4 engineers</a:t>
            </a:r>
            <a:br/>
            <a:r>
              <a:rPr sz="750">
                <a:solidFill>
                  <a:srgbClr val="192738"/>
                </a:solidFill>
                <a:latin typeface="Arial"/>
              </a:rPr>
              <a:t>security/accessibility</a:t>
            </a:r>
            <a:br/>
            <a:r>
              <a:rPr sz="750">
                <a:solidFill>
                  <a:srgbClr val="192738"/>
                </a:solidFill>
                <a:latin typeface="Arial"/>
              </a:rPr>
              <a:t>program sponsorship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47872"/>
            <a:ext cx="7086600" cy="4389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50" b="1">
                <a:solidFill>
                  <a:srgbClr val="192738"/>
                </a:solidFill>
                <a:latin typeface="Arial"/>
              </a:rPr>
              <a:t>Dependencies: VA API access, cloud/security authorization, identity integration, production data model, updated form metadata, and a Wilcore rate-card based cost estimate.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507992"/>
            <a:ext cx="7040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646464"/>
                </a:solidFill>
                <a:latin typeface="Arial"/>
              </a:rPr>
              <a:t>Roadmap derived from README and CLAUDE.md. Dollar cost was not present in project files.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92738"/>
                </a:solidFill>
                <a:latin typeface="Arial"/>
              </a:rPr>
              <a:t>Risks, Mitigations, 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3200400" cy="749808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19" b="1">
                <a:solidFill>
                  <a:srgbClr val="192738"/>
                </a:solidFill>
                <a:latin typeface="Arial"/>
              </a:rPr>
              <a:t>Eligibility precision</a:t>
            </a:r>
          </a:p>
          <a:p>
            <a:pPr>
              <a:spcBef>
                <a:spcPts val="400"/>
              </a:spcBef>
            </a:pPr>
            <a:r>
              <a:rPr sz="760">
                <a:solidFill>
                  <a:srgbClr val="192738"/>
                </a:solidFill>
                <a:latin typeface="Arial"/>
              </a:rPr>
              <a:t>Mitigation: “worth exploring” framing, VA.gov links, VSO/VA confirmation on every benefit.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960120"/>
            <a:ext cx="32004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19" b="1">
                <a:solidFill>
                  <a:srgbClr val="192738"/>
                </a:solidFill>
                <a:latin typeface="Arial"/>
              </a:rPr>
              <a:t>Model/API availability</a:t>
            </a:r>
          </a:p>
          <a:p>
            <a:pPr>
              <a:spcBef>
                <a:spcPts val="400"/>
              </a:spcBef>
            </a:pPr>
            <a:r>
              <a:rPr sz="760">
                <a:solidFill>
                  <a:srgbClr val="192738"/>
                </a:solidFill>
                <a:latin typeface="Arial"/>
              </a:rPr>
              <a:t>Mitigation: rules fallback for benefit discovery; clear manual path when document vision lacks an API key.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200400" cy="749808"/>
          </a:xfrm>
          <a:prstGeom prst="roundRect">
            <a:avLst/>
          </a:prstGeom>
          <a:solidFill>
            <a:srgbClr val="D9EFF7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19" b="1">
                <a:solidFill>
                  <a:srgbClr val="192738"/>
                </a:solidFill>
                <a:latin typeface="Arial"/>
              </a:rPr>
              <a:t>Form drift / XFA limits</a:t>
            </a:r>
          </a:p>
          <a:p>
            <a:pPr>
              <a:spcBef>
                <a:spcPts val="400"/>
              </a:spcBef>
            </a:pPr>
            <a:r>
              <a:rPr sz="760">
                <a:solidFill>
                  <a:srgbClr val="192738"/>
                </a:solidFill>
                <a:latin typeface="Arial"/>
              </a:rPr>
              <a:t>Mitigation: versioned catalog, VA.gov links, summary package instead of unreliable filled XFA PDFs.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920240"/>
            <a:ext cx="32004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8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19" b="1">
                <a:solidFill>
                  <a:srgbClr val="192738"/>
                </a:solidFill>
                <a:latin typeface="Arial"/>
              </a:rPr>
              <a:t>PII/security</a:t>
            </a:r>
          </a:p>
          <a:p>
            <a:pPr>
              <a:spcBef>
                <a:spcPts val="400"/>
              </a:spcBef>
            </a:pPr>
            <a:r>
              <a:rPr sz="760">
                <a:solidFill>
                  <a:srgbClr val="192738"/>
                </a:solidFill>
                <a:latin typeface="Arial"/>
              </a:rPr>
              <a:t>Mitigation: synthetic MVP; production requires identity, encryption, retention policy, audit logs, FedRAMP/FISMA path.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6858000" cy="8229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200"/>
              </a:spcAft>
              <a:defRPr sz="840">
                <a:solidFill>
                  <a:srgbClr val="192738"/>
                </a:solidFill>
                <a:latin typeface="Arial"/>
              </a:defRPr>
            </a:pPr>
            <a:r>
              <a:t>• One-sentence answer: VetAssist helps veterans understand benefits worth exploring and prepare the right paperwork before meeting the VA or a VSO.</a:t>
            </a:r>
          </a:p>
          <a:p>
            <a:pPr algn="l">
              <a:spcAft>
                <a:spcPts val="200"/>
              </a:spcAft>
              <a:defRPr sz="840">
                <a:solidFill>
                  <a:srgbClr val="192738"/>
                </a:solidFill>
                <a:latin typeface="Arial"/>
              </a:defRPr>
            </a:pPr>
            <a:r>
              <a:t>• Security answer: the MVP stores no real veteran data; a federal pilot would move model use to an approved environment and add identity, logging, retention, and ATO controls.</a:t>
            </a:r>
          </a:p>
          <a:p>
            <a:pPr algn="l">
              <a:spcAft>
                <a:spcPts val="200"/>
              </a:spcAft>
              <a:defRPr sz="840">
                <a:solidFill>
                  <a:srgbClr val="192738"/>
                </a:solidFill>
                <a:latin typeface="Arial"/>
              </a:defRPr>
            </a:pPr>
            <a:r>
              <a:t>• Cost answer: implementation cost needs Wilcore rate-card and pilot-scope decisions; effort estimate is 3-4 engineers over 6-9 months for a VA pilot.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507992"/>
            <a:ext cx="7040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>
                <a:solidFill>
                  <a:srgbClr val="646464"/>
                </a:solidFill>
                <a:latin typeface="Arial"/>
              </a:rPr>
              <a:t>Full Q&amp;A copy is in VetAssist_Presentation_Material.md.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ilcore Theme">
  <a:themeElements>
    <a:clrScheme name="Simple Light">
      <a:dk1>
        <a:srgbClr val="3B3B3B"/>
      </a:dk1>
      <a:lt1>
        <a:srgbClr val="FFFFFF"/>
      </a:lt1>
      <a:dk2>
        <a:srgbClr val="646464"/>
      </a:dk2>
      <a:lt2>
        <a:srgbClr val="EEEEEE"/>
      </a:lt2>
      <a:accent1>
        <a:srgbClr val="00A187"/>
      </a:accent1>
      <a:accent2>
        <a:srgbClr val="003C32"/>
      </a:accent2>
      <a:accent3>
        <a:srgbClr val="026656"/>
      </a:accent3>
      <a:accent4>
        <a:srgbClr val="01826D"/>
      </a:accent4>
      <a:accent5>
        <a:srgbClr val="66B4A6"/>
      </a:accent5>
      <a:accent6>
        <a:srgbClr val="84CDC1"/>
      </a:accent6>
      <a:hlink>
        <a:srgbClr val="00A0A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